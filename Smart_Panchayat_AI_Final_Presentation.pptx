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Panchayat Decision Support System</a:t>
            </a:r>
          </a:p>
          <a:p>
            <a:r>
              <a:t>Final Implementation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Multi-Agent, Multilingual Village Intelligence Platform</a:t>
            </a:r>
          </a:p>
          <a:p/>
          <a:p>
            <a:r>
              <a:t>Group 15 | Department of CSE (AI &amp; ML)</a:t>
            </a:r>
          </a:p>
          <a:p>
            <a:r>
              <a:t>MIT Academy of Engineering, Alandi, Pune</a:t>
            </a:r>
          </a:p>
          <a:p/>
          <a:p>
            <a:r>
              <a:t>Guide: Mrs. Anita Shingade</a:t>
            </a:r>
          </a:p>
          <a:p>
            <a:r>
              <a:t>Academic Year: 2026-27</a:t>
            </a:r>
          </a:p>
          <a:p/>
          <a:p>
            <a:r>
              <a:t>COMPLETE IMPLEMENTATION - READY FOR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Completion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Status: 100% COMPLETE - Production Ready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All Core Features Implemented:</a:t>
            </a:r>
          </a:p>
          <a:p>
            <a:pPr lvl="1">
              <a:spcBef>
                <a:spcPts val="600"/>
              </a:spcBef>
              <a:defRPr sz="1600"/>
            </a:pPr>
            <a:r>
              <a:t>Family Head Portal (Registration, Members, Issues)</a:t>
            </a:r>
          </a:p>
          <a:p>
            <a:pPr lvl="1">
              <a:spcBef>
                <a:spcPts val="600"/>
              </a:spcBef>
              <a:defRPr sz="1600"/>
            </a:pPr>
            <a:r>
              <a:t>Sarpanch Dashboard (Analytics, AI Decision Support)</a:t>
            </a:r>
          </a:p>
          <a:p>
            <a:pPr lvl="1">
              <a:spcBef>
                <a:spcPts val="600"/>
              </a:spcBef>
              <a:defRPr sz="1600"/>
            </a:pPr>
            <a:r>
              <a:t>Multi-Agent AI System (6 Specialized Agents)</a:t>
            </a:r>
          </a:p>
          <a:p>
            <a:pPr lvl="1">
              <a:spcBef>
                <a:spcPts val="600"/>
              </a:spcBef>
              <a:defRPr sz="1600"/>
            </a:pPr>
            <a:r>
              <a:t>RAG Knowledge Base (8 Government Schemes)</a:t>
            </a:r>
          </a:p>
          <a:p>
            <a:pPr lvl="1">
              <a:spcBef>
                <a:spcPts val="600"/>
              </a:spcBef>
              <a:defRPr sz="1600"/>
            </a:pPr>
            <a:r>
              <a:t>Multilingual Support (English, Hindi, Marathi)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Project Metrics:</a:t>
            </a:r>
          </a:p>
          <a:p>
            <a:pPr lvl="1">
              <a:spcBef>
                <a:spcPts val="600"/>
              </a:spcBef>
              <a:defRPr sz="1600"/>
            </a:pPr>
            <a:r>
              <a:t>42+ Files Created | 3,500+ Lines of Code</a:t>
            </a:r>
          </a:p>
          <a:p>
            <a:pPr lvl="1">
              <a:spcBef>
                <a:spcPts val="600"/>
              </a:spcBef>
              <a:defRPr sz="1600"/>
            </a:pPr>
            <a:r>
              <a:t>8 Database Models | 20+ REST API Endpoints</a:t>
            </a:r>
          </a:p>
          <a:p>
            <a:pPr lvl="1">
              <a:spcBef>
                <a:spcPts val="600"/>
              </a:spcBef>
              <a:defRPr sz="1600"/>
            </a:pPr>
            <a:r>
              <a:t>29 Demo Households | 100+ Family Members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- Fully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Frontend Layer:</a:t>
            </a:r>
          </a:p>
          <a:p>
            <a:pPr lvl="1">
              <a:spcBef>
                <a:spcPts val="600"/>
              </a:spcBef>
              <a:defRPr sz="1600"/>
            </a:pPr>
            <a:r>
              <a:t>Family Head Portal (Streamlit) - Multilingual UI</a:t>
            </a:r>
          </a:p>
          <a:p>
            <a:pPr lvl="1">
              <a:spcBef>
                <a:spcPts val="600"/>
              </a:spcBef>
              <a:defRPr sz="1600"/>
            </a:pPr>
            <a:r>
              <a:t>Sarpanch Dashboard (Streamlit) - Interactive Charts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Backend API Layer (FastAPI):</a:t>
            </a:r>
          </a:p>
          <a:p>
            <a:pPr lvl="1">
              <a:spcBef>
                <a:spcPts val="600"/>
              </a:spcBef>
              <a:defRPr sz="1600"/>
            </a:pPr>
            <a:r>
              <a:t>20+ REST Endpoints | Auto-calculated Demographics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Multi-Agent AI Intelligence:</a:t>
            </a:r>
          </a:p>
          <a:p>
            <a:pPr lvl="1">
              <a:spcBef>
                <a:spcPts val="600"/>
              </a:spcBef>
              <a:defRPr sz="1600"/>
            </a:pPr>
            <a:r>
              <a:t>6 Specialized Agents + Orchestrator</a:t>
            </a:r>
          </a:p>
          <a:p>
            <a:pPr lvl="1">
              <a:spcBef>
                <a:spcPts val="600"/>
              </a:spcBef>
              <a:defRPr sz="1600"/>
            </a:pPr>
            <a:r>
              <a:t>Evidence-based Analysis | Priority Scoring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RAG Knowledge Base:</a:t>
            </a:r>
          </a:p>
          <a:p>
            <a:pPr lvl="1">
              <a:spcBef>
                <a:spcPts val="600"/>
              </a:spcBef>
              <a:defRPr sz="1600"/>
            </a:pPr>
            <a:r>
              <a:t>Semantic Scheme Retrieval | Multilingual Matching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Database (SQLite): 8 Tables | Auto-population Calculation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Multi-Agent AI System - Core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6 Specialized Domain Agents: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1. Population Agent - Demographics &amp; registration</a:t>
            </a:r>
          </a:p>
          <a:p>
            <a:pPr>
              <a:spcBef>
                <a:spcPts val="600"/>
              </a:spcBef>
              <a:defRPr sz="1600"/>
            </a:pPr>
            <a:r>
              <a:t>2. Water Agent - Water supply &amp; sanitation</a:t>
            </a:r>
          </a:p>
          <a:p>
            <a:pPr>
              <a:spcBef>
                <a:spcPts val="600"/>
              </a:spcBef>
              <a:defRPr sz="1600"/>
            </a:pPr>
            <a:r>
              <a:t>3. Health Agent - Disease prevalence &amp; healthcare</a:t>
            </a:r>
          </a:p>
          <a:p>
            <a:pPr>
              <a:spcBef>
                <a:spcPts val="600"/>
              </a:spcBef>
              <a:defRPr sz="1600"/>
            </a:pPr>
            <a:r>
              <a:t>4. Education Agent - Enrollment, dropout, literacy</a:t>
            </a:r>
          </a:p>
          <a:p>
            <a:pPr>
              <a:spcBef>
                <a:spcPts val="600"/>
              </a:spcBef>
              <a:defRPr sz="1600"/>
            </a:pPr>
            <a:r>
              <a:t>5. Infrastructure Agent - Roads, electricity</a:t>
            </a:r>
          </a:p>
          <a:p>
            <a:pPr>
              <a:spcBef>
                <a:spcPts val="600"/>
              </a:spcBef>
              <a:defRPr sz="1600"/>
            </a:pPr>
            <a:r>
              <a:t>6. Priority Agent - Mathematical scoring (0-100)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Orchestrator Coordination:</a:t>
            </a:r>
          </a:p>
          <a:p>
            <a:pPr lvl="1">
              <a:spcBef>
                <a:spcPts val="600"/>
              </a:spcBef>
              <a:defRPr sz="1600"/>
            </a:pPr>
            <a:r>
              <a:t>Runs all agents in parallel</a:t>
            </a:r>
          </a:p>
          <a:p>
            <a:pPr lvl="1">
              <a:spcBef>
                <a:spcPts val="600"/>
              </a:spcBef>
              <a:defRPr sz="1600"/>
            </a:pPr>
            <a:r>
              <a:t>Aggregates evidence from each domain</a:t>
            </a:r>
          </a:p>
          <a:p>
            <a:pPr lvl="1">
              <a:spcBef>
                <a:spcPts val="600"/>
              </a:spcBef>
              <a:defRPr sz="1600"/>
            </a:pPr>
            <a:r>
              <a:t>Produces explainable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- Live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Family Head Portal:</a:t>
            </a:r>
          </a:p>
          <a:p>
            <a:pPr lvl="1">
              <a:spcBef>
                <a:spcPts val="600"/>
              </a:spcBef>
              <a:defRPr sz="1600"/>
            </a:pPr>
            <a:r>
              <a:t>Household registration with auto-generated IDs</a:t>
            </a:r>
          </a:p>
          <a:p>
            <a:pPr lvl="1">
              <a:spcBef>
                <a:spcPts val="600"/>
              </a:spcBef>
              <a:defRPr sz="1600"/>
            </a:pPr>
            <a:r>
              <a:t>Family member addition (auto-calculates population)</a:t>
            </a:r>
          </a:p>
          <a:p>
            <a:pPr lvl="1">
              <a:spcBef>
                <a:spcPts val="600"/>
              </a:spcBef>
              <a:defRPr sz="1600"/>
            </a:pPr>
            <a:r>
              <a:t>Village issue reporting with multilingual support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Sarpanch Dashboard:</a:t>
            </a:r>
          </a:p>
          <a:p>
            <a:pPr lvl="1">
              <a:spcBef>
                <a:spcPts val="600"/>
              </a:spcBef>
              <a:defRPr sz="1600"/>
            </a:pPr>
            <a:r>
              <a:t>Real-time population &amp; demographic analytics</a:t>
            </a:r>
          </a:p>
          <a:p>
            <a:pPr lvl="1">
              <a:spcBef>
                <a:spcPts val="600"/>
              </a:spcBef>
              <a:defRPr sz="1600"/>
            </a:pPr>
            <a:r>
              <a:t>Ward-wise development indicators</a:t>
            </a:r>
          </a:p>
          <a:p>
            <a:pPr lvl="1">
              <a:spcBef>
                <a:spcPts val="600"/>
              </a:spcBef>
              <a:defRPr sz="1600"/>
            </a:pPr>
            <a:r>
              <a:t>Multi-agent AI analysis with severity levels</a:t>
            </a:r>
          </a:p>
          <a:p>
            <a:pPr lvl="1">
              <a:spcBef>
                <a:spcPts val="600"/>
              </a:spcBef>
              <a:defRPr sz="1600"/>
            </a:pPr>
            <a:r>
              <a:t>Explainable recommendations with evidence</a:t>
            </a:r>
          </a:p>
          <a:p>
            <a:pPr lvl="1">
              <a:spcBef>
                <a:spcPts val="600"/>
              </a:spcBef>
              <a:defRPr sz="1600"/>
            </a:pPr>
            <a:r>
              <a:t>RAG-based government scheme search</a:t>
            </a:r>
          </a:p>
          <a:p>
            <a:pPr lvl="1">
              <a:spcBef>
                <a:spcPts val="600"/>
              </a:spcBef>
              <a:defRPr sz="1600"/>
            </a:pPr>
            <a:r>
              <a:t>Automated Panchayat meeting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Knowledge Base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Government Schemes Database: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Central Schemes:</a:t>
            </a:r>
          </a:p>
          <a:p>
            <a:pPr lvl="1">
              <a:spcBef>
                <a:spcPts val="600"/>
              </a:spcBef>
              <a:defRPr sz="1600"/>
            </a:pPr>
            <a:r>
              <a:t>Jal Jeevan Mission (Water)</a:t>
            </a:r>
          </a:p>
          <a:p>
            <a:pPr lvl="1">
              <a:spcBef>
                <a:spcPts val="600"/>
              </a:spcBef>
              <a:defRPr sz="1600"/>
            </a:pPr>
            <a:r>
              <a:t>Swachh Bharat Mission (Sanitation)</a:t>
            </a:r>
          </a:p>
          <a:p>
            <a:pPr lvl="1">
              <a:spcBef>
                <a:spcPts val="600"/>
              </a:spcBef>
              <a:defRPr sz="1600"/>
            </a:pPr>
            <a:r>
              <a:t>Ayushman Bharat - PMJAY (Health)</a:t>
            </a:r>
          </a:p>
          <a:p>
            <a:pPr lvl="1">
              <a:spcBef>
                <a:spcPts val="600"/>
              </a:spcBef>
              <a:defRPr sz="1600"/>
            </a:pPr>
            <a:r>
              <a:t>PM-KISAN Samman Nidhi (Agriculture)</a:t>
            </a:r>
          </a:p>
          <a:p>
            <a:pPr lvl="1">
              <a:spcBef>
                <a:spcPts val="600"/>
              </a:spcBef>
              <a:defRPr sz="1600"/>
            </a:pPr>
            <a:r>
              <a:t>PMGSY (Roads &amp; Infrastructure)</a:t>
            </a:r>
          </a:p>
          <a:p>
            <a:pPr lvl="1">
              <a:spcBef>
                <a:spcPts val="600"/>
              </a:spcBef>
              <a:defRPr sz="1600"/>
            </a:pPr>
            <a:r>
              <a:t>Samagra Shiksha Abhiyan (Education)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RAG Features:</a:t>
            </a:r>
          </a:p>
          <a:p>
            <a:pPr lvl="1">
              <a:spcBef>
                <a:spcPts val="600"/>
              </a:spcBef>
              <a:defRPr sz="1600"/>
            </a:pPr>
            <a:r>
              <a:t>Keyword + Semantic Matching</a:t>
            </a:r>
          </a:p>
          <a:p>
            <a:pPr lvl="1">
              <a:spcBef>
                <a:spcPts val="600"/>
              </a:spcBef>
              <a:defRPr sz="1600"/>
            </a:pPr>
            <a:r>
              <a:t>Multilingual Scheme Names (EN, HI, MR)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Multilingual Support - 3 Languages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Implemented Languages:</a:t>
            </a:r>
          </a:p>
          <a:p>
            <a:pPr lvl="1">
              <a:spcBef>
                <a:spcPts val="600"/>
              </a:spcBef>
              <a:defRPr sz="1600"/>
            </a:pPr>
            <a:r>
              <a:t>English (en) - Primary interface</a:t>
            </a:r>
          </a:p>
          <a:p>
            <a:pPr lvl="1">
              <a:spcBef>
                <a:spcPts val="600"/>
              </a:spcBef>
              <a:defRPr sz="1600"/>
            </a:pPr>
            <a:r>
              <a:t>Hindi (hi) - Complete translation</a:t>
            </a:r>
          </a:p>
          <a:p>
            <a:pPr lvl="1">
              <a:spcBef>
                <a:spcPts val="600"/>
              </a:spcBef>
              <a:defRPr sz="1600"/>
            </a:pPr>
            <a:r>
              <a:t>Marathi (mr) - Full localization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Multilingual Components:</a:t>
            </a:r>
          </a:p>
          <a:p>
            <a:pPr lvl="1">
              <a:spcBef>
                <a:spcPts val="600"/>
              </a:spcBef>
              <a:defRPr sz="1600"/>
            </a:pPr>
            <a:r>
              <a:t>UI Labels and Navigation</a:t>
            </a:r>
          </a:p>
          <a:p>
            <a:pPr lvl="1">
              <a:spcBef>
                <a:spcPts val="600"/>
              </a:spcBef>
              <a:defRPr sz="1600"/>
            </a:pPr>
            <a:r>
              <a:t>Form Fields and Validation Messages</a:t>
            </a:r>
          </a:p>
          <a:p>
            <a:pPr lvl="1">
              <a:spcBef>
                <a:spcPts val="600"/>
              </a:spcBef>
              <a:defRPr sz="1600"/>
            </a:pPr>
            <a:r>
              <a:t>Dashboard Metrics and Charts</a:t>
            </a:r>
          </a:p>
          <a:p>
            <a:pPr lvl="1">
              <a:spcBef>
                <a:spcPts val="600"/>
              </a:spcBef>
              <a:defRPr sz="1600"/>
            </a:pPr>
            <a:r>
              <a:t>Government Scheme Names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Implementation:</a:t>
            </a:r>
          </a:p>
          <a:p>
            <a:pPr lvl="1">
              <a:spcBef>
                <a:spcPts val="600"/>
              </a:spcBef>
              <a:defRPr sz="1600"/>
            </a:pPr>
            <a:r>
              <a:t>Translation dictionary service</a:t>
            </a:r>
          </a:p>
          <a:p>
            <a:pPr lvl="1">
              <a:spcBef>
                <a:spcPts val="600"/>
              </a:spcBef>
              <a:defRPr sz="1600"/>
            </a:pPr>
            <a:r>
              <a:t>Language selector in both portals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- Production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Backend:</a:t>
            </a:r>
          </a:p>
          <a:p>
            <a:pPr lvl="1">
              <a:spcBef>
                <a:spcPts val="600"/>
              </a:spcBef>
              <a:defRPr sz="1600"/>
            </a:pPr>
            <a:r>
              <a:t>FastAPI - REST API framework</a:t>
            </a:r>
          </a:p>
          <a:p>
            <a:pPr lvl="1">
              <a:spcBef>
                <a:spcPts val="600"/>
              </a:spcBef>
              <a:defRPr sz="1600"/>
            </a:pPr>
            <a:r>
              <a:t>SQLAlchemy - ORM with auto-calculation</a:t>
            </a:r>
          </a:p>
          <a:p>
            <a:pPr lvl="1">
              <a:spcBef>
                <a:spcPts val="600"/>
              </a:spcBef>
              <a:defRPr sz="1600"/>
            </a:pPr>
            <a:r>
              <a:t>Pydantic - Data validation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Frontend:</a:t>
            </a:r>
          </a:p>
          <a:p>
            <a:pPr lvl="1">
              <a:spcBef>
                <a:spcPts val="600"/>
              </a:spcBef>
              <a:defRPr sz="1600"/>
            </a:pPr>
            <a:r>
              <a:t>Streamlit - Interactive dashboards</a:t>
            </a:r>
          </a:p>
          <a:p>
            <a:pPr lvl="1">
              <a:spcBef>
                <a:spcPts val="600"/>
              </a:spcBef>
              <a:defRPr sz="1600"/>
            </a:pPr>
            <a:r>
              <a:t>Plotly - Data visualizations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AI/ML:</a:t>
            </a:r>
          </a:p>
          <a:p>
            <a:pPr lvl="1">
              <a:spcBef>
                <a:spcPts val="600"/>
              </a:spcBef>
              <a:defRPr sz="1600"/>
            </a:pPr>
            <a:r>
              <a:t>Custom Multi-Agent Framework</a:t>
            </a:r>
          </a:p>
          <a:p>
            <a:pPr lvl="1">
              <a:spcBef>
                <a:spcPts val="600"/>
              </a:spcBef>
              <a:defRPr sz="1600"/>
            </a:pPr>
            <a:r>
              <a:t>RAG - Keyword + Semantic Matching</a:t>
            </a:r>
          </a:p>
          <a:p>
            <a:pPr lvl="1">
              <a:spcBef>
                <a:spcPts val="600"/>
              </a:spcBef>
              <a:defRPr sz="1600"/>
            </a:pPr>
            <a:r>
              <a:t>Priority Scoring Algorithm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All components integrated and tested!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 - 8 Core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Implemented Models: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1. Ward - Village administrative divisions</a:t>
            </a:r>
          </a:p>
          <a:p>
            <a:pPr>
              <a:spcBef>
                <a:spcPts val="600"/>
              </a:spcBef>
              <a:defRPr sz="1600"/>
            </a:pPr>
            <a:r>
              <a:t>2. Household - Family head details</a:t>
            </a:r>
          </a:p>
          <a:p>
            <a:pPr>
              <a:spcBef>
                <a:spcPts val="600"/>
              </a:spcBef>
              <a:defRPr sz="1600"/>
            </a:pPr>
            <a:r>
              <a:t>3. FamilyMember - Demographics, education</a:t>
            </a:r>
          </a:p>
          <a:p>
            <a:pPr>
              <a:spcBef>
                <a:spcPts val="600"/>
              </a:spcBef>
              <a:defRPr sz="1600"/>
            </a:pPr>
            <a:r>
              <a:t>4. Issue - Citizen complaints</a:t>
            </a:r>
          </a:p>
          <a:p>
            <a:pPr>
              <a:spcBef>
                <a:spcPts val="600"/>
              </a:spcBef>
              <a:defRPr sz="1600"/>
            </a:pPr>
            <a:r>
              <a:t>5. AIRecommendation - Priority scores</a:t>
            </a:r>
          </a:p>
          <a:p>
            <a:pPr>
              <a:spcBef>
                <a:spcPts val="600"/>
              </a:spcBef>
              <a:defRPr sz="1600"/>
            </a:pPr>
            <a:r>
              <a:t>6. Scheme - Government programs</a:t>
            </a:r>
          </a:p>
          <a:p>
            <a:pPr>
              <a:spcBef>
                <a:spcPts val="600"/>
              </a:spcBef>
              <a:defRPr sz="1600"/>
            </a:pPr>
            <a:r>
              <a:t>7. User - Role-based access</a:t>
            </a:r>
          </a:p>
          <a:p>
            <a:pPr>
              <a:spcBef>
                <a:spcPts val="600"/>
              </a:spcBef>
              <a:defRPr sz="1600"/>
            </a:pPr>
            <a:r>
              <a:t>8. AuditLog - Action tracking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Key Features:</a:t>
            </a:r>
          </a:p>
          <a:p>
            <a:pPr lvl="1">
              <a:spcBef>
                <a:spcPts val="600"/>
              </a:spcBef>
              <a:defRPr sz="1600"/>
            </a:pPr>
            <a:r>
              <a:t>Auto-calculated population from members</a:t>
            </a:r>
          </a:p>
          <a:p>
            <a:pPr lvl="1">
              <a:spcBef>
                <a:spcPts val="600"/>
              </a:spcBef>
              <a:defRPr sz="1600"/>
            </a:pPr>
            <a:r>
              <a:t>Ward totals update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Data - Realistic Village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Generated Synthetic Data: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Village: Alandi Gram Panchayat, Pune</a:t>
            </a:r>
          </a:p>
          <a:p>
            <a:pPr lvl="1">
              <a:spcBef>
                <a:spcPts val="600"/>
              </a:spcBef>
              <a:defRPr sz="1600"/>
            </a:pPr>
            <a:r>
              <a:t>6 Wards (Ward 1-6)</a:t>
            </a:r>
          </a:p>
          <a:p>
            <a:pPr lvl="1">
              <a:spcBef>
                <a:spcPts val="600"/>
              </a:spcBef>
              <a:defRPr sz="1600"/>
            </a:pPr>
            <a:r>
              <a:t>29 Households across all wards</a:t>
            </a:r>
          </a:p>
          <a:p>
            <a:pPr lvl="1">
              <a:spcBef>
                <a:spcPts val="600"/>
              </a:spcBef>
              <a:defRPr sz="1600"/>
            </a:pPr>
            <a:r>
              <a:t>100+ Family Members</a:t>
            </a:r>
          </a:p>
          <a:p>
            <a:pPr lvl="1">
              <a:spcBef>
                <a:spcPts val="600"/>
              </a:spcBef>
              <a:defRPr sz="1600"/>
            </a:pPr>
            <a:r>
              <a:t>Age groups: Children, Adults, Seniors</a:t>
            </a:r>
          </a:p>
          <a:p>
            <a:pPr lvl="1">
              <a:spcBef>
                <a:spcPts val="600"/>
              </a:spcBef>
              <a:defRPr sz="1600"/>
            </a:pPr>
            <a:r>
              <a:t>Household types: APL, BPL, Antodaya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Issues &amp; Recommendations:</a:t>
            </a:r>
          </a:p>
          <a:p>
            <a:pPr lvl="1">
              <a:spcBef>
                <a:spcPts val="600"/>
              </a:spcBef>
              <a:defRPr sz="1600"/>
            </a:pPr>
            <a:r>
              <a:t>10 Realistic village problems</a:t>
            </a:r>
          </a:p>
          <a:p>
            <a:pPr lvl="1">
              <a:spcBef>
                <a:spcPts val="600"/>
              </a:spcBef>
              <a:defRPr sz="1600"/>
            </a:pPr>
            <a:r>
              <a:t>10 AI-generated recommendations</a:t>
            </a:r>
          </a:p>
          <a:p>
            <a:pPr lvl="1">
              <a:spcBef>
                <a:spcPts val="600"/>
              </a:spcBef>
              <a:defRPr sz="1600"/>
            </a:pPr>
            <a:r>
              <a:t>Priority scores: 40-95 out of 100</a:t>
            </a:r>
          </a:p>
          <a:p>
            <a:pPr lvl="1">
              <a:spcBef>
                <a:spcPts val="600"/>
              </a:spcBef>
              <a:defRPr sz="1600"/>
            </a:pPr>
            <a:r>
              <a:t>Matched government schemes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- 5 Minute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Part 1: Family Head Portal (2 min)</a:t>
            </a:r>
          </a:p>
          <a:p>
            <a:pPr lvl="1">
              <a:spcBef>
                <a:spcPts val="600"/>
              </a:spcBef>
              <a:defRPr sz="1600"/>
            </a:pPr>
            <a:r>
              <a:t>1. Select Marathi language</a:t>
            </a:r>
          </a:p>
          <a:p>
            <a:pPr lvl="1">
              <a:spcBef>
                <a:spcPts val="600"/>
              </a:spcBef>
              <a:defRPr sz="1600"/>
            </a:pPr>
            <a:r>
              <a:t>2. Register household - Get unique ID</a:t>
            </a:r>
          </a:p>
          <a:p>
            <a:pPr lvl="1">
              <a:spcBef>
                <a:spcPts val="600"/>
              </a:spcBef>
              <a:defRPr sz="1600"/>
            </a:pPr>
            <a:r>
              <a:t>3. Add 3 members - Watch auto-calculation</a:t>
            </a:r>
          </a:p>
          <a:p>
            <a:pPr lvl="1">
              <a:spcBef>
                <a:spcPts val="600"/>
              </a:spcBef>
              <a:defRPr sz="1600"/>
            </a:pPr>
            <a:r>
              <a:t>4. Submit water issue - Issue ID generated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Part 2: Sarpanch Dashboard (3 min)</a:t>
            </a:r>
          </a:p>
          <a:p>
            <a:pPr lvl="1">
              <a:spcBef>
                <a:spcPts val="600"/>
              </a:spcBef>
              <a:defRPr sz="1600"/>
            </a:pPr>
            <a:r>
              <a:t>1. Overview - Population metrics</a:t>
            </a:r>
          </a:p>
          <a:p>
            <a:pPr lvl="1">
              <a:spcBef>
                <a:spcPts val="600"/>
              </a:spcBef>
              <a:defRPr sz="1600"/>
            </a:pPr>
            <a:r>
              <a:t>2. Run Multi-Agent Analysis</a:t>
            </a:r>
          </a:p>
          <a:p>
            <a:pPr lvl="1">
              <a:spcBef>
                <a:spcPts val="600"/>
              </a:spcBef>
              <a:defRPr sz="1600"/>
            </a:pPr>
            <a:r>
              <a:t>3. Show severity levels</a:t>
            </a:r>
          </a:p>
          <a:p>
            <a:pPr lvl="1">
              <a:spcBef>
                <a:spcPts val="600"/>
              </a:spcBef>
              <a:defRPr sz="1600"/>
            </a:pPr>
            <a:r>
              <a:t>4. AI Recommendations</a:t>
            </a:r>
          </a:p>
          <a:p>
            <a:pPr lvl="1">
              <a:spcBef>
                <a:spcPts val="600"/>
              </a:spcBef>
              <a:defRPr sz="1600"/>
            </a:pPr>
            <a:r>
              <a:t>5. Search schemes</a:t>
            </a:r>
          </a:p>
          <a:p>
            <a:pPr lvl="1">
              <a:spcBef>
                <a:spcPts val="600"/>
              </a:spcBef>
              <a:defRPr sz="1600"/>
            </a:pPr>
            <a:r>
              <a:t>6. Download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 Assurance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Testing Completed: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API Testing (Swagger UI):</a:t>
            </a:r>
          </a:p>
          <a:p>
            <a:pPr lvl="1">
              <a:spcBef>
                <a:spcPts val="600"/>
              </a:spcBef>
              <a:defRPr sz="1600"/>
            </a:pPr>
            <a:r>
              <a:t>All 20+ endpoints tested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Frontend Testing:</a:t>
            </a:r>
          </a:p>
          <a:p>
            <a:pPr lvl="1">
              <a:spcBef>
                <a:spcPts val="600"/>
              </a:spcBef>
              <a:defRPr sz="1600"/>
            </a:pPr>
            <a:r>
              <a:t>Form validation working</a:t>
            </a:r>
          </a:p>
          <a:p>
            <a:pPr lvl="1">
              <a:spcBef>
                <a:spcPts val="600"/>
              </a:spcBef>
              <a:defRPr sz="1600"/>
            </a:pPr>
            <a:r>
              <a:t>Language switching verified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Multi-Agent System:</a:t>
            </a:r>
          </a:p>
          <a:p>
            <a:pPr lvl="1">
              <a:spcBef>
                <a:spcPts val="600"/>
              </a:spcBef>
              <a:defRPr sz="1600"/>
            </a:pPr>
            <a:r>
              <a:t>All 6 agents producing correct analysis</a:t>
            </a:r>
          </a:p>
          <a:p>
            <a:pPr lvl="1">
              <a:spcBef>
                <a:spcPts val="600"/>
              </a:spcBef>
              <a:defRPr sz="1600"/>
            </a:pPr>
            <a:r>
              <a:t>Priority scoring validated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Data Integrity:</a:t>
            </a:r>
          </a:p>
          <a:p>
            <a:pPr lvl="1">
              <a:spcBef>
                <a:spcPts val="600"/>
              </a:spcBef>
              <a:defRPr sz="1600"/>
            </a:pPr>
            <a:r>
              <a:t>Auto-calculation accuracy: 100%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Outcomes - All Met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CO1: Design solutions for real-world problems</a:t>
            </a:r>
          </a:p>
          <a:p>
            <a:pPr lvl="1">
              <a:spcBef>
                <a:spcPts val="600"/>
              </a:spcBef>
              <a:defRPr sz="1600"/>
            </a:pPr>
            <a:r>
              <a:t>Complete Panchayat decision support system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CO2: Project planning with timeline</a:t>
            </a:r>
          </a:p>
          <a:p>
            <a:pPr lvl="1">
              <a:spcBef>
                <a:spcPts val="600"/>
              </a:spcBef>
              <a:defRPr sz="1600"/>
            </a:pPr>
            <a:r>
              <a:t>14-week phased roadmap documented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CO3: Professional ethics &amp; standards</a:t>
            </a:r>
          </a:p>
          <a:p>
            <a:pPr lvl="1">
              <a:spcBef>
                <a:spcPts val="600"/>
              </a:spcBef>
              <a:defRPr sz="1600"/>
            </a:pPr>
            <a:r>
              <a:t>Data privacy, audit logs, responsible AI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CO4: Integrate multiple design ideas</a:t>
            </a:r>
          </a:p>
          <a:p>
            <a:pPr lvl="1">
              <a:spcBef>
                <a:spcPts val="600"/>
              </a:spcBef>
              <a:defRPr sz="1600"/>
            </a:pPr>
            <a:r>
              <a:t>Multi-agent + RAG + Multilingual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CO5: Teamwork and collaboration</a:t>
            </a:r>
          </a:p>
          <a:p>
            <a:pPr lvl="1">
              <a:spcBef>
                <a:spcPts val="600"/>
              </a:spcBef>
              <a:defRPr sz="1600"/>
            </a:pPr>
            <a:r>
              <a:t>Modular architecture, coordinated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1. Multi-Agent Architecture</a:t>
            </a:r>
          </a:p>
          <a:p>
            <a:pPr lvl="1">
              <a:spcBef>
                <a:spcPts val="600"/>
              </a:spcBef>
              <a:defRPr sz="1600"/>
            </a:pPr>
            <a:r>
              <a:t>First Panchayat system with 6 AI agents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2. Auto-Calculated Demographics</a:t>
            </a:r>
          </a:p>
          <a:p>
            <a:pPr lvl="1">
              <a:spcBef>
                <a:spcPts val="600"/>
              </a:spcBef>
              <a:defRPr sz="1600"/>
            </a:pPr>
            <a:r>
              <a:t>Eliminates manual entry errors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3. Explainable AI with Evidence</a:t>
            </a:r>
          </a:p>
          <a:p>
            <a:pPr lvl="1">
              <a:spcBef>
                <a:spcPts val="600"/>
              </a:spcBef>
              <a:defRPr sz="1600"/>
            </a:pPr>
            <a:r>
              <a:t>Shows reasoning &amp; data sources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4. RAG-based Scheme Matching</a:t>
            </a:r>
          </a:p>
          <a:p>
            <a:pPr lvl="1">
              <a:spcBef>
                <a:spcPts val="600"/>
              </a:spcBef>
              <a:defRPr sz="1600"/>
            </a:pPr>
            <a:r>
              <a:t>Connects problems to solutions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5. Multilingual by Design</a:t>
            </a:r>
          </a:p>
          <a:p>
            <a:pPr lvl="1">
              <a:spcBef>
                <a:spcPts val="600"/>
              </a:spcBef>
              <a:defRPr sz="1600"/>
            </a:pPr>
            <a:r>
              <a:t>English, Hindi, Marathi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6. Production-Ready</a:t>
            </a:r>
          </a:p>
          <a:p>
            <a:pPr lvl="1">
              <a:spcBef>
                <a:spcPts val="600"/>
              </a:spcBef>
              <a:defRPr sz="1600"/>
            </a:pPr>
            <a:r>
              <a:t>Deployable system, not prototype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Short-term (1-3 months):</a:t>
            </a:r>
          </a:p>
          <a:p>
            <a:pPr lvl="1">
              <a:spcBef>
                <a:spcPts val="600"/>
              </a:spcBef>
              <a:defRPr sz="1600"/>
            </a:pPr>
            <a:r>
              <a:t>Automated testing suite</a:t>
            </a:r>
          </a:p>
          <a:p>
            <a:pPr lvl="1">
              <a:spcBef>
                <a:spcPts val="600"/>
              </a:spcBef>
              <a:defRPr sz="1600"/>
            </a:pPr>
            <a:r>
              <a:t>Docker containerization</a:t>
            </a:r>
          </a:p>
          <a:p>
            <a:pPr lvl="1">
              <a:spcBef>
                <a:spcPts val="600"/>
              </a:spcBef>
              <a:defRPr sz="1600"/>
            </a:pPr>
            <a:r>
              <a:t>PostgreSQL migration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Medium-term (3-6 months):</a:t>
            </a:r>
          </a:p>
          <a:p>
            <a:pPr lvl="1">
              <a:spcBef>
                <a:spcPts val="600"/>
              </a:spcBef>
              <a:defRPr sz="1600"/>
            </a:pPr>
            <a:r>
              <a:t>GIS integration with maps</a:t>
            </a:r>
          </a:p>
          <a:p>
            <a:pPr lvl="1">
              <a:spcBef>
                <a:spcPts val="600"/>
              </a:spcBef>
              <a:defRPr sz="1600"/>
            </a:pPr>
            <a:r>
              <a:t>Mobile application</a:t>
            </a:r>
          </a:p>
          <a:p>
            <a:pPr lvl="1">
              <a:spcBef>
                <a:spcPts val="600"/>
              </a:spcBef>
              <a:defRPr sz="1600"/>
            </a:pPr>
            <a:r>
              <a:t>Voice interface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Long-term (6-12 months):</a:t>
            </a:r>
          </a:p>
          <a:p>
            <a:pPr lvl="1">
              <a:spcBef>
                <a:spcPts val="600"/>
              </a:spcBef>
              <a:defRPr sz="1600"/>
            </a:pPr>
            <a:r>
              <a:t>LLM integration</a:t>
            </a:r>
          </a:p>
          <a:p>
            <a:pPr lvl="1">
              <a:spcBef>
                <a:spcPts val="600"/>
              </a:spcBef>
              <a:defRPr sz="1600"/>
            </a:pPr>
            <a:r>
              <a:t>Real-time sync with e-Gram Swaraj</a:t>
            </a:r>
          </a:p>
          <a:p>
            <a:pPr lvl="1">
              <a:spcBef>
                <a:spcPts val="600"/>
              </a:spcBef>
              <a:defRPr sz="1600"/>
            </a:pPr>
            <a:r>
              <a:t>Multi-village analytics</a:t>
            </a:r>
          </a:p>
          <a:p>
            <a:pPr lvl="1">
              <a:spcBef>
                <a:spcPts val="600"/>
              </a:spcBef>
              <a:defRPr sz="1600"/>
            </a:pPr>
            <a:r>
              <a:t>Regional deployment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Impact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For Gram Panchayat:</a:t>
            </a:r>
          </a:p>
          <a:p>
            <a:pPr lvl="1">
              <a:spcBef>
                <a:spcPts val="600"/>
              </a:spcBef>
              <a:defRPr sz="1600"/>
            </a:pPr>
            <a:r>
              <a:t>Data-driven decision making</a:t>
            </a:r>
          </a:p>
          <a:p>
            <a:pPr lvl="1">
              <a:spcBef>
                <a:spcPts val="600"/>
              </a:spcBef>
              <a:defRPr sz="1600"/>
            </a:pPr>
            <a:r>
              <a:t>Transparent priority ranking</a:t>
            </a:r>
          </a:p>
          <a:p>
            <a:pPr lvl="1">
              <a:spcBef>
                <a:spcPts val="600"/>
              </a:spcBef>
              <a:defRPr sz="1600"/>
            </a:pPr>
            <a:r>
              <a:t>Direct scheme connection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For Citizens:</a:t>
            </a:r>
          </a:p>
          <a:p>
            <a:pPr lvl="1">
              <a:spcBef>
                <a:spcPts val="600"/>
              </a:spcBef>
              <a:defRPr sz="1600"/>
            </a:pPr>
            <a:r>
              <a:t>Easy registration</a:t>
            </a:r>
          </a:p>
          <a:p>
            <a:pPr lvl="1">
              <a:spcBef>
                <a:spcPts val="600"/>
              </a:spcBef>
              <a:defRPr sz="1600"/>
            </a:pPr>
            <a:r>
              <a:t>Multilingual interface</a:t>
            </a:r>
          </a:p>
          <a:p>
            <a:pPr lvl="1">
              <a:spcBef>
                <a:spcPts val="600"/>
              </a:spcBef>
              <a:defRPr sz="1600"/>
            </a:pPr>
            <a:r>
              <a:t>Direct issue reporting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Scalability:</a:t>
            </a:r>
          </a:p>
          <a:p>
            <a:pPr lvl="1">
              <a:spcBef>
                <a:spcPts val="600"/>
              </a:spcBef>
              <a:defRPr sz="1600"/>
            </a:pPr>
            <a:r>
              <a:t>Can serve 2.5+ lakh Gram Panchayats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SDG Alignment:</a:t>
            </a:r>
          </a:p>
          <a:p>
            <a:pPr lvl="1">
              <a:spcBef>
                <a:spcPts val="600"/>
              </a:spcBef>
              <a:defRPr sz="1600"/>
            </a:pPr>
            <a:r>
              <a:t>SDG 11 (Cities) &amp; SDG 16 (Institutions)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Comprehensive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Technical Documentation:</a:t>
            </a:r>
          </a:p>
          <a:p>
            <a:pPr lvl="1">
              <a:spcBef>
                <a:spcPts val="600"/>
              </a:spcBef>
              <a:defRPr sz="1600"/>
            </a:pPr>
            <a:r>
              <a:t>README.md - Complete guide (3000+ words)</a:t>
            </a:r>
          </a:p>
          <a:p>
            <a:pPr lvl="1">
              <a:spcBef>
                <a:spcPts val="600"/>
              </a:spcBef>
              <a:defRPr sz="1600"/>
            </a:pPr>
            <a:r>
              <a:t>API Documentation - Swagger UI</a:t>
            </a:r>
          </a:p>
          <a:p>
            <a:pPr lvl="1">
              <a:spcBef>
                <a:spcPts val="600"/>
              </a:spcBef>
              <a:defRPr sz="1600"/>
            </a:pPr>
            <a:r>
              <a:t>Architecture diagrams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Academic Documentation:</a:t>
            </a:r>
          </a:p>
          <a:p>
            <a:pPr lvl="1">
              <a:spcBef>
                <a:spcPts val="600"/>
              </a:spcBef>
              <a:defRPr sz="1600"/>
            </a:pPr>
            <a:r>
              <a:t>PRESENTATION_GUIDE.md</a:t>
            </a:r>
          </a:p>
          <a:p>
            <a:pPr lvl="1">
              <a:spcBef>
                <a:spcPts val="600"/>
              </a:spcBef>
              <a:defRPr sz="1600"/>
            </a:pPr>
            <a:r>
              <a:t>TESTING_GUIDE.md</a:t>
            </a:r>
          </a:p>
          <a:p>
            <a:pPr lvl="1">
              <a:spcBef>
                <a:spcPts val="600"/>
              </a:spcBef>
              <a:defRPr sz="1600"/>
            </a:pPr>
            <a:r>
              <a:t>ROADMAP.md</a:t>
            </a:r>
          </a:p>
          <a:p>
            <a:pPr lvl="1">
              <a:spcBef>
                <a:spcPts val="600"/>
              </a:spcBef>
              <a:defRPr sz="1600"/>
            </a:pPr>
            <a:r>
              <a:t>PROJECT_COMPLETION_SUMMARY.md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Setup &amp; Deployment:</a:t>
            </a:r>
          </a:p>
          <a:p>
            <a:pPr lvl="1">
              <a:spcBef>
                <a:spcPts val="600"/>
              </a:spcBef>
              <a:defRPr sz="1600"/>
            </a:pPr>
            <a:r>
              <a:t>Installation guide</a:t>
            </a:r>
          </a:p>
          <a:p>
            <a:pPr lvl="1">
              <a:spcBef>
                <a:spcPts val="600"/>
              </a:spcBef>
              <a:defRPr sz="1600"/>
            </a:pPr>
            <a:r>
              <a:t>Quick start script</a:t>
            </a:r>
          </a:p>
          <a:p>
            <a:pPr lvl="1">
              <a:spcBef>
                <a:spcPts val="600"/>
              </a:spcBef>
              <a:defRPr sz="1600"/>
            </a:pPr>
            <a:r>
              <a:t>GitHub setup guide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- Mission Accomplished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/>
            </a:pPr>
            <a:r>
              <a:t>Project Summary:</a:t>
            </a:r>
          </a:p>
          <a:p>
            <a:pPr lvl="1">
              <a:spcBef>
                <a:spcPts val="600"/>
              </a:spcBef>
              <a:defRPr sz="1600"/>
            </a:pPr>
            <a:r>
              <a:t>100% Complete Implementation</a:t>
            </a:r>
          </a:p>
          <a:p>
            <a:pPr lvl="1">
              <a:spcBef>
                <a:spcPts val="600"/>
              </a:spcBef>
              <a:defRPr sz="1600"/>
            </a:pPr>
            <a:r>
              <a:t>All objectives achieved</a:t>
            </a:r>
          </a:p>
          <a:p>
            <a:pPr lvl="1">
              <a:spcBef>
                <a:spcPts val="600"/>
              </a:spcBef>
              <a:defRPr sz="1600"/>
            </a:pPr>
            <a:r>
              <a:t>Production-ready system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Key Achievements:</a:t>
            </a:r>
          </a:p>
          <a:p>
            <a:pPr lvl="1">
              <a:spcBef>
                <a:spcPts val="600"/>
              </a:spcBef>
              <a:defRPr sz="1600"/>
            </a:pPr>
            <a:r>
              <a:t>Multi-Agent AI with explanations</a:t>
            </a:r>
          </a:p>
          <a:p>
            <a:pPr lvl="1">
              <a:spcBef>
                <a:spcPts val="600"/>
              </a:spcBef>
              <a:defRPr sz="1600"/>
            </a:pPr>
            <a:r>
              <a:t>RAG Knowledge Base</a:t>
            </a:r>
          </a:p>
          <a:p>
            <a:pPr lvl="1">
              <a:spcBef>
                <a:spcPts val="600"/>
              </a:spcBef>
              <a:defRPr sz="1600"/>
            </a:pPr>
            <a:r>
              <a:t>Multilingual interface (3 languages)</a:t>
            </a:r>
          </a:p>
          <a:p>
            <a:pPr lvl="1">
              <a:spcBef>
                <a:spcPts val="600"/>
              </a:spcBef>
              <a:defRPr sz="1600"/>
            </a:pPr>
            <a:r>
              <a:t>Auto-calculated demographics</a:t>
            </a:r>
          </a:p>
          <a:p>
            <a:pPr lvl="1">
              <a:spcBef>
                <a:spcPts val="600"/>
              </a:spcBef>
              <a:defRPr sz="1600"/>
            </a:pPr>
            <a:r>
              <a:t>Real-time analytics</a:t>
            </a:r>
          </a:p>
          <a:p>
            <a:pPr>
              <a:spcBef>
                <a:spcPts val="600"/>
              </a:spcBef>
              <a:defRPr sz="1600"/>
            </a:pPr>
          </a:p>
          <a:p>
            <a:pPr>
              <a:spcBef>
                <a:spcPts val="600"/>
              </a:spcBef>
              <a:defRPr sz="1600"/>
            </a:pPr>
            <a:r>
              <a:t>Ready For:</a:t>
            </a:r>
          </a:p>
          <a:p>
            <a:pPr lvl="1">
              <a:spcBef>
                <a:spcPts val="600"/>
              </a:spcBef>
              <a:defRPr sz="1600"/>
            </a:pPr>
            <a:r>
              <a:t>Live demonstration</a:t>
            </a:r>
          </a:p>
          <a:p>
            <a:pPr lvl="1">
              <a:spcBef>
                <a:spcPts val="600"/>
              </a:spcBef>
              <a:defRPr sz="1600"/>
            </a:pPr>
            <a:r>
              <a:t>Faculty evaluation</a:t>
            </a:r>
          </a:p>
          <a:p>
            <a:pPr lvl="1">
              <a:spcBef>
                <a:spcPts val="600"/>
              </a:spcBef>
              <a:defRPr sz="1600"/>
            </a:pPr>
            <a:r>
              <a:t>Real-world deployment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Demonstration Welcome</a:t>
            </a:r>
          </a:p>
          <a:p/>
          <a:p>
            <a:r>
              <a:t>Smart Panchayat AI System</a:t>
            </a:r>
          </a:p>
          <a:p>
            <a:r>
              <a:t>Complete | Production-Ready | Deployable</a:t>
            </a:r>
          </a:p>
          <a:p/>
          <a:p>
            <a:r>
              <a:t>Group 15 | MIT Academy of Engineering</a:t>
            </a:r>
          </a:p>
          <a:p>
            <a:r>
              <a:t>Department of CSE (AI &amp; ML)</a:t>
            </a:r>
          </a:p>
          <a:p/>
          <a:p>
            <a:r>
              <a:t>Guide: Mrs. Anita Shingade</a:t>
            </a:r>
          </a:p>
          <a:p>
            <a:r>
              <a:t>Academic Year: 2026-27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